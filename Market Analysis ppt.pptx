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6" r:id="rId5"/>
    <p:sldId id="267" r:id="rId6"/>
    <p:sldId id="268" r:id="rId7"/>
    <p:sldId id="269" r:id="rId8"/>
    <p:sldId id="273" r:id="rId9"/>
    <p:sldId id="274" r:id="rId10"/>
    <p:sldId id="262" r:id="rId11"/>
    <p:sldId id="270" r:id="rId12"/>
    <p:sldId id="271" r:id="rId13"/>
    <p:sldId id="272" r:id="rId14"/>
    <p:sldId id="275" r:id="rId15"/>
    <p:sldId id="276" r:id="rId16"/>
    <p:sldId id="27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617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2296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Analysis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Product Performance &amp; Customer Purchasing Behavior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5989320"/>
            <a:ext cx="1280160" cy="0"/>
          </a:xfrm>
          <a:prstGeom prst="line">
            <a:avLst/>
          </a:prstGeom>
          <a:noFill/>
          <a:ln w="25400">
            <a:solidFill>
              <a:srgbClr val="E01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983" y="612820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53964" y="5394960"/>
            <a:ext cx="237744" cy="457200"/>
          </a:xfrm>
          <a:prstGeom prst="rect">
            <a:avLst/>
          </a:prstGeom>
          <a:solidFill>
            <a:srgbClr val="E0115F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4340" y="5029200"/>
            <a:ext cx="237744" cy="822960"/>
          </a:xfrm>
          <a:prstGeom prst="rect">
            <a:avLst/>
          </a:prstGeom>
          <a:solidFill>
            <a:srgbClr val="FF7AA8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66089" y="4480560"/>
            <a:ext cx="237744" cy="1371600"/>
          </a:xfrm>
          <a:prstGeom prst="rect">
            <a:avLst/>
          </a:prstGeom>
          <a:solidFill>
            <a:srgbClr val="7A2150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467844" y="3931920"/>
            <a:ext cx="237744" cy="1920240"/>
          </a:xfrm>
          <a:prstGeom prst="rect">
            <a:avLst/>
          </a:prstGeom>
          <a:solidFill>
            <a:srgbClr val="E0115F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69594" y="3474720"/>
            <a:ext cx="237744" cy="2377440"/>
          </a:xfrm>
          <a:prstGeom prst="rect">
            <a:avLst/>
          </a:prstGeom>
          <a:solidFill>
            <a:srgbClr val="FF7AA8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071348" y="3246120"/>
            <a:ext cx="237744" cy="2606040"/>
          </a:xfrm>
          <a:prstGeom prst="rect">
            <a:avLst/>
          </a:prstGeom>
          <a:solidFill>
            <a:srgbClr val="7A2150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381724" y="3383280"/>
            <a:ext cx="237744" cy="2468880"/>
          </a:xfrm>
          <a:prstGeom prst="rect">
            <a:avLst/>
          </a:prstGeom>
          <a:solidFill>
            <a:srgbClr val="E0115F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692101" y="3749040"/>
            <a:ext cx="237744" cy="2103120"/>
          </a:xfrm>
          <a:prstGeom prst="rect">
            <a:avLst/>
          </a:prstGeom>
          <a:solidFill>
            <a:srgbClr val="FF7AA8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002484" y="4297680"/>
            <a:ext cx="237744" cy="1554480"/>
          </a:xfrm>
          <a:prstGeom prst="rect">
            <a:avLst/>
          </a:prstGeom>
          <a:solidFill>
            <a:srgbClr val="7A2150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330114" y="4846320"/>
            <a:ext cx="237744" cy="1005840"/>
          </a:xfrm>
          <a:prstGeom prst="rect">
            <a:avLst/>
          </a:prstGeom>
          <a:solidFill>
            <a:srgbClr val="E0115F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631866" y="5212080"/>
            <a:ext cx="237744" cy="640080"/>
          </a:xfrm>
          <a:prstGeom prst="rect">
            <a:avLst/>
          </a:prstGeom>
          <a:solidFill>
            <a:srgbClr val="FF7AA8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933617" y="5440680"/>
            <a:ext cx="237744" cy="411480"/>
          </a:xfrm>
          <a:prstGeom prst="rect">
            <a:avLst/>
          </a:prstGeom>
          <a:solidFill>
            <a:srgbClr val="7A2150">
              <a:alpha val="9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0115F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740664"/>
            <a:ext cx="68580" cy="118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26948" y="649224"/>
            <a:ext cx="6858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" y="566928"/>
            <a:ext cx="685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1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Arial Rounded MT Bold" panose="020F0704030504030204" pitchFamily="34" charset="0"/>
                <a:ea typeface="Cambria" pitchFamily="34" charset="-122"/>
                <a:cs typeface="Cambria" pitchFamily="34" charset="-120"/>
              </a:rPr>
              <a:t>Project Objective &amp; Approach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1517386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F7F5F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1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 large-scale grocery transaction dataset to understand which products and aisles drive volume and loyalty.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customer ordering behavior — frequency, timing, and basket size — to surface retention opportunities.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raw transactional data into decisions on inventory, promotions, and customer engagement.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an end-to-end analytics workflow: SQL-style querying, data modeling, and dashboarding.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F7F5F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1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14884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SQL-style analytical questions answered across products, aisles, departments, and customer orders.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modeled in Power BI with custom DAX measures for reorder rate, order frequency, and basket metrics.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interactive dashboards built: Product Performance and Customer Purchasing Behavior.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synthesized into the business insights and recommendations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0115F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740664"/>
            <a:ext cx="68580" cy="118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26948" y="649224"/>
            <a:ext cx="6858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" y="566928"/>
            <a:ext cx="685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1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Arial Rounded MT Bold" panose="020F0704030504030204" pitchFamily="34" charset="0"/>
                <a:ea typeface="Cambria" pitchFamily="34" charset="-122"/>
                <a:cs typeface="Cambria" pitchFamily="34" charset="-120"/>
              </a:rPr>
              <a:t>Power BI Dashboard: Product Performance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408176"/>
            <a:ext cx="7287768" cy="4326827"/>
          </a:xfrm>
          <a:prstGeom prst="roundRect">
            <a:avLst>
              <a:gd name="adj" fmla="val 845"/>
            </a:avLst>
          </a:prstGeom>
          <a:solidFill>
            <a:srgbClr val="14141C"/>
          </a:solidFill>
          <a:ln/>
          <a:effectLst>
            <a:outerShdw blurRad="88900" dist="381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0" descr="product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178040" cy="421709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955280" y="1463040"/>
            <a:ext cx="3657600" cy="4271963"/>
          </a:xfrm>
          <a:prstGeom prst="roundRect">
            <a:avLst>
              <a:gd name="adj" fmla="val 1500"/>
            </a:avLst>
          </a:prstGeom>
          <a:solidFill>
            <a:srgbClr val="F7F5F8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1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0" y="1993392"/>
            <a:ext cx="3154680" cy="38513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care, snacks, and pantry are the largest departments by product count.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mix, white wines, and sparkling water top the reorder-rate leaderboard.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Blueberries are by far the best-selling item, outpacing every other product.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7C4717-7C82-2AEC-8444-36EE91501662}"/>
              </a:ext>
            </a:extLst>
          </p:cNvPr>
          <p:cNvSpPr txBox="1"/>
          <p:nvPr/>
        </p:nvSpPr>
        <p:spPr>
          <a:xfrm>
            <a:off x="383997" y="1195350"/>
            <a:ext cx="670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1A1A2E"/>
                </a:solidFill>
                <a:latin typeface="Arial Rounded MT Bold" panose="020F0704030504030204" pitchFamily="34" charset="0"/>
                <a:ea typeface="Cambria" pitchFamily="34" charset="-122"/>
                <a:cs typeface="Cambria" pitchFamily="34" charset="-120"/>
              </a:rPr>
              <a:t>Product Performance –KPI’S</a:t>
            </a:r>
            <a:endParaRPr lang="en-IN" sz="2400" u="sng" dirty="0">
              <a:latin typeface="Arial Rounded MT Bold" panose="020F0704030504030204" pitchFamily="34" charset="0"/>
            </a:endParaRP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4DF518DA-46F2-5D27-B884-23B9D14847C6}"/>
              </a:ext>
            </a:extLst>
          </p:cNvPr>
          <p:cNvSpPr/>
          <p:nvPr/>
        </p:nvSpPr>
        <p:spPr>
          <a:xfrm>
            <a:off x="270930" y="2817983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C57EF-FA52-8349-7705-D3AFA240F3F5}"/>
              </a:ext>
            </a:extLst>
          </p:cNvPr>
          <p:cNvSpPr txBox="1"/>
          <p:nvPr/>
        </p:nvSpPr>
        <p:spPr>
          <a:xfrm>
            <a:off x="844478" y="3254074"/>
            <a:ext cx="145626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     21 </a:t>
            </a:r>
          </a:p>
          <a:p>
            <a:r>
              <a:rPr lang="en-US" dirty="0">
                <a:solidFill>
                  <a:srgbClr val="FF0000"/>
                </a:solidFill>
              </a:rPr>
              <a:t>Departments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82417104-857E-449A-CFBE-CF3A7D9FB482}"/>
              </a:ext>
            </a:extLst>
          </p:cNvPr>
          <p:cNvSpPr/>
          <p:nvPr/>
        </p:nvSpPr>
        <p:spPr>
          <a:xfrm>
            <a:off x="3285061" y="2855334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FC08AABE-086E-20C9-FB21-404EE7E11A1B}"/>
              </a:ext>
            </a:extLst>
          </p:cNvPr>
          <p:cNvSpPr/>
          <p:nvPr/>
        </p:nvSpPr>
        <p:spPr>
          <a:xfrm>
            <a:off x="6383862" y="2869741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51D9C371-6CE2-79F6-A2E6-083E379C6F03}"/>
              </a:ext>
            </a:extLst>
          </p:cNvPr>
          <p:cNvSpPr/>
          <p:nvPr/>
        </p:nvSpPr>
        <p:spPr>
          <a:xfrm>
            <a:off x="9342119" y="2881224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148455-062F-D1CD-ED80-3C9ADED7269E}"/>
              </a:ext>
            </a:extLst>
          </p:cNvPr>
          <p:cNvSpPr txBox="1"/>
          <p:nvPr/>
        </p:nvSpPr>
        <p:spPr>
          <a:xfrm>
            <a:off x="4191845" y="3378056"/>
            <a:ext cx="9144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 134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Aisles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207625-33D2-B06E-6DF7-2C68392DCFED}"/>
              </a:ext>
            </a:extLst>
          </p:cNvPr>
          <p:cNvSpPr txBox="1"/>
          <p:nvPr/>
        </p:nvSpPr>
        <p:spPr>
          <a:xfrm>
            <a:off x="6932505" y="3340458"/>
            <a:ext cx="1464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19.4K</a:t>
            </a:r>
          </a:p>
          <a:p>
            <a:r>
              <a:rPr lang="en-US" dirty="0">
                <a:solidFill>
                  <a:srgbClr val="FF0000"/>
                </a:solidFill>
              </a:rPr>
              <a:t>Product-id’s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5361CF-A2BB-DACD-579E-FBA18AF3D864}"/>
              </a:ext>
            </a:extLst>
          </p:cNvPr>
          <p:cNvSpPr txBox="1"/>
          <p:nvPr/>
        </p:nvSpPr>
        <p:spPr>
          <a:xfrm>
            <a:off x="9660464" y="3364354"/>
            <a:ext cx="209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0.60</a:t>
            </a:r>
          </a:p>
          <a:p>
            <a:r>
              <a:rPr lang="en-US" dirty="0">
                <a:solidFill>
                  <a:srgbClr val="FF0000"/>
                </a:solidFill>
              </a:rPr>
              <a:t>Overall reorder rate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803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1871E2-9C1F-A535-27D4-BDB56120A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351" y="1121435"/>
            <a:ext cx="5221347" cy="40856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6447F8-4EC6-E6E9-D180-995D2325D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02" y="1207698"/>
            <a:ext cx="6007113" cy="39993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EC69AD-4E06-1A59-D97C-903B957CF40C}"/>
              </a:ext>
            </a:extLst>
          </p:cNvPr>
          <p:cNvSpPr txBox="1"/>
          <p:nvPr/>
        </p:nvSpPr>
        <p:spPr>
          <a:xfrm>
            <a:off x="259302" y="129395"/>
            <a:ext cx="57705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rial Rounded MT Bold" panose="020F0704030504030204" pitchFamily="34" charset="0"/>
              </a:rPr>
              <a:t>Product Department &amp; Reorder Rate Analysis</a:t>
            </a:r>
            <a:endParaRPr lang="en-IN" sz="2400" b="1" u="sng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99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CBABAB-3609-EEA1-E0DB-653D246FE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307" y="1122252"/>
            <a:ext cx="5658928" cy="52961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A25155-0D8D-9AE6-1E67-7B913DFBE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72" y="1086927"/>
            <a:ext cx="5934973" cy="53573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9BE6DF-498F-636F-C90F-11B91F2CF507}"/>
              </a:ext>
            </a:extLst>
          </p:cNvPr>
          <p:cNvSpPr txBox="1"/>
          <p:nvPr/>
        </p:nvSpPr>
        <p:spPr>
          <a:xfrm>
            <a:off x="215658" y="201616"/>
            <a:ext cx="5736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rial Rounded MT Bold" panose="020F0704030504030204" pitchFamily="34" charset="0"/>
              </a:rPr>
              <a:t>Top-Performing Aisles and Products </a:t>
            </a:r>
            <a:endParaRPr lang="en-IN" sz="2400" b="1" u="sng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349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9CA481-7552-ABC9-F73B-FDFF9D830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342" y="1311213"/>
            <a:ext cx="6400800" cy="5029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B32158-0BD7-8F0F-9102-439E6BBD940D}"/>
              </a:ext>
            </a:extLst>
          </p:cNvPr>
          <p:cNvSpPr txBox="1"/>
          <p:nvPr/>
        </p:nvSpPr>
        <p:spPr>
          <a:xfrm>
            <a:off x="86263" y="384677"/>
            <a:ext cx="6159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rial Rounded MT Bold" panose="020F0704030504030204" pitchFamily="34" charset="0"/>
              </a:rPr>
              <a:t>Top Reorder Rate Products(5*orders) </a:t>
            </a:r>
            <a:endParaRPr lang="en-IN" sz="2400" b="1" u="sng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139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58E14E-CDC0-FD9E-6E82-56200F1D6E12}"/>
              </a:ext>
            </a:extLst>
          </p:cNvPr>
          <p:cNvSpPr txBox="1"/>
          <p:nvPr/>
        </p:nvSpPr>
        <p:spPr>
          <a:xfrm>
            <a:off x="321334" y="253873"/>
            <a:ext cx="11367458" cy="5981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IN" sz="2400" b="1" u="sng" dirty="0">
                <a:latin typeface="Arial Rounded MT Bold" panose="020F0704030504030204" pitchFamily="34" charset="0"/>
              </a:rPr>
              <a:t>Dashboard 1: Product Performance</a:t>
            </a:r>
            <a:endParaRPr lang="en-IN" sz="2400" u="sng" dirty="0">
              <a:latin typeface="Arial Rounded MT Bold" panose="020F0704030504030204" pitchFamily="34" charset="0"/>
            </a:endParaRPr>
          </a:p>
          <a:p>
            <a:pPr>
              <a:lnSpc>
                <a:spcPct val="250000"/>
              </a:lnSpc>
              <a:buNone/>
            </a:pPr>
            <a:r>
              <a:rPr lang="en-IN" sz="2400" b="1" u="sng" dirty="0">
                <a:latin typeface="Arial Rounded MT Bold" panose="020F0704030504030204" pitchFamily="34" charset="0"/>
              </a:rPr>
              <a:t>Insights</a:t>
            </a:r>
            <a:endParaRPr lang="en-IN" sz="2400" u="sng" dirty="0">
              <a:latin typeface="Arial Rounded MT Bold" panose="020F0704030504030204" pitchFamily="34" charset="0"/>
            </a:endParaRP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Personal care, snacks, and pantry account for ~7.1K of 19.4K products (~37%) — far more than other departments.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High-reorder aisles (trail mix 1.00, white wines 0.78, sparkling water 0.74, tofu alternatives 0.69, yogurt 0.67) are habitual, repeat-purchase items.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The overall reorder rate is 0.60, but this blended figure masks a large share of products with very low reorder rates.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"Missing" is the #1 ranked aisle by product count (494) — ahead of every legitimate category.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Best-sellers show a steep long tail: Blueberries lead with 63 orders, while most other listed items sit at just 1–2 orders.</a:t>
            </a:r>
          </a:p>
        </p:txBody>
      </p:sp>
    </p:spTree>
    <p:extLst>
      <p:ext uri="{BB962C8B-B14F-4D97-AF65-F5344CB8AC3E}">
        <p14:creationId xmlns:p14="http://schemas.microsoft.com/office/powerpoint/2010/main" val="3845503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F6C9A2-06B6-09F9-7803-2A23B6880044}"/>
              </a:ext>
            </a:extLst>
          </p:cNvPr>
          <p:cNvSpPr txBox="1"/>
          <p:nvPr/>
        </p:nvSpPr>
        <p:spPr>
          <a:xfrm>
            <a:off x="60384" y="17254"/>
            <a:ext cx="11654287" cy="575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IN" sz="2400" b="1" u="sng" dirty="0">
                <a:latin typeface="Arial Rounded MT Bold" panose="020F0704030504030204" pitchFamily="34" charset="0"/>
              </a:rPr>
              <a:t>Recommendations</a:t>
            </a:r>
            <a:endParaRPr lang="en-IN" sz="2400" u="sng" dirty="0">
              <a:latin typeface="Arial Rounded MT Bold" panose="020F0704030504030204" pitchFamily="34" charset="0"/>
            </a:endParaRP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Cross-check product count by department against actual order volume to confirm inventory isn't over-stocked in low-turnover categories.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Prioritize stock availability and loyalty/subscribe-and-save offers on high-reorder aisles — they're your retention drivers.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Cross-sell low-reorder, high-volume categories (candy/chocolate, ice cream) alongside high-reorder anchors like yogurt to lift their repeat rate.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Clean/impute the aisle mapping for "missing" entries before drawing further conclusions from the "Top 10 Aisles" chart.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Feature top 3 best-sellers in promo placement; flag bottom-of-list SKUs as discontinue/de-prioritize candidates.</a:t>
            </a:r>
          </a:p>
        </p:txBody>
      </p:sp>
    </p:spTree>
    <p:extLst>
      <p:ext uri="{BB962C8B-B14F-4D97-AF65-F5344CB8AC3E}">
        <p14:creationId xmlns:p14="http://schemas.microsoft.com/office/powerpoint/2010/main" val="2345882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0115F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740664"/>
            <a:ext cx="68580" cy="118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26948" y="649224"/>
            <a:ext cx="6858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" y="566928"/>
            <a:ext cx="685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1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Arial Rounded MT Bold" panose="020F0704030504030204" pitchFamily="34" charset="0"/>
                <a:ea typeface="Cambria" pitchFamily="34" charset="-122"/>
                <a:cs typeface="Cambria" pitchFamily="34" charset="-120"/>
              </a:rPr>
              <a:t>Power BI Dashboard: Customer Purchasing Behavior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408176"/>
            <a:ext cx="7287768" cy="4326827"/>
          </a:xfrm>
          <a:prstGeom prst="roundRect">
            <a:avLst>
              <a:gd name="adj" fmla="val 845"/>
            </a:avLst>
          </a:prstGeom>
          <a:solidFill>
            <a:srgbClr val="14141C"/>
          </a:solidFill>
          <a:ln/>
          <a:effectLst>
            <a:outerShdw blurRad="88900" dist="381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0" descr="customer_behav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178040" cy="421709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955280" y="1463040"/>
            <a:ext cx="3657600" cy="4271963"/>
          </a:xfrm>
          <a:prstGeom prst="roundRect">
            <a:avLst>
              <a:gd name="adj" fmla="val 1500"/>
            </a:avLst>
          </a:prstGeom>
          <a:solidFill>
            <a:srgbClr val="F7F5F8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1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0" y="1993392"/>
            <a:ext cx="3154680" cy="38513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 customers placed ~12K orders, averaging 11 days between orders and 4.2 items per order.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activity peaks in the late morning and stays high through early afternoon.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repeat customers (4-8 orders each) anchors order volume.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0">
            <a:extLst>
              <a:ext uri="{FF2B5EF4-FFF2-40B4-BE49-F238E27FC236}">
                <a16:creationId xmlns:a16="http://schemas.microsoft.com/office/drawing/2014/main" id="{20849C2A-56D1-3546-3530-C9B2BBB46543}"/>
              </a:ext>
            </a:extLst>
          </p:cNvPr>
          <p:cNvSpPr/>
          <p:nvPr/>
        </p:nvSpPr>
        <p:spPr>
          <a:xfrm>
            <a:off x="410617" y="217932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20">
            <a:extLst>
              <a:ext uri="{FF2B5EF4-FFF2-40B4-BE49-F238E27FC236}">
                <a16:creationId xmlns:a16="http://schemas.microsoft.com/office/drawing/2014/main" id="{D62CB375-DFE9-B76D-BE71-BA517B47EDD4}"/>
              </a:ext>
            </a:extLst>
          </p:cNvPr>
          <p:cNvSpPr/>
          <p:nvPr/>
        </p:nvSpPr>
        <p:spPr>
          <a:xfrm>
            <a:off x="3461348" y="217932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10CA6C76-5830-D10C-599F-99167950EF77}"/>
              </a:ext>
            </a:extLst>
          </p:cNvPr>
          <p:cNvSpPr/>
          <p:nvPr/>
        </p:nvSpPr>
        <p:spPr>
          <a:xfrm>
            <a:off x="6386425" y="219456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20">
            <a:extLst>
              <a:ext uri="{FF2B5EF4-FFF2-40B4-BE49-F238E27FC236}">
                <a16:creationId xmlns:a16="http://schemas.microsoft.com/office/drawing/2014/main" id="{5550A1B5-2074-6A55-EDB2-D463015E4700}"/>
              </a:ext>
            </a:extLst>
          </p:cNvPr>
          <p:cNvSpPr/>
          <p:nvPr/>
        </p:nvSpPr>
        <p:spPr>
          <a:xfrm>
            <a:off x="9209560" y="217932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EE42AE-88DB-F293-12B0-346A128720EE}"/>
              </a:ext>
            </a:extLst>
          </p:cNvPr>
          <p:cNvSpPr txBox="1"/>
          <p:nvPr/>
        </p:nvSpPr>
        <p:spPr>
          <a:xfrm>
            <a:off x="784429" y="2633394"/>
            <a:ext cx="21997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       10K </a:t>
            </a:r>
          </a:p>
          <a:p>
            <a:r>
              <a:rPr lang="en-US" dirty="0">
                <a:solidFill>
                  <a:srgbClr val="FF0000"/>
                </a:solidFill>
              </a:rPr>
              <a:t>Total customers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FFCE61-E145-E4DC-9EEB-1CFC9978343D}"/>
              </a:ext>
            </a:extLst>
          </p:cNvPr>
          <p:cNvSpPr txBox="1"/>
          <p:nvPr/>
        </p:nvSpPr>
        <p:spPr>
          <a:xfrm>
            <a:off x="4071666" y="2611828"/>
            <a:ext cx="156569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</a:t>
            </a:r>
            <a:r>
              <a:rPr lang="en-US" sz="2000" dirty="0"/>
              <a:t>12K</a:t>
            </a:r>
          </a:p>
          <a:p>
            <a:r>
              <a:rPr lang="en-US" dirty="0">
                <a:solidFill>
                  <a:srgbClr val="FF0000"/>
                </a:solidFill>
              </a:rPr>
              <a:t>Total orders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883A60-12DA-1AEE-2737-9B384432737B}"/>
              </a:ext>
            </a:extLst>
          </p:cNvPr>
          <p:cNvSpPr txBox="1"/>
          <p:nvPr/>
        </p:nvSpPr>
        <p:spPr>
          <a:xfrm>
            <a:off x="6512079" y="2561891"/>
            <a:ext cx="25208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</a:t>
            </a:r>
            <a:r>
              <a:rPr lang="en-US" sz="2000" dirty="0"/>
              <a:t>11</a:t>
            </a:r>
          </a:p>
          <a:p>
            <a:r>
              <a:rPr lang="en-US" dirty="0">
                <a:solidFill>
                  <a:srgbClr val="FF0000"/>
                </a:solidFill>
              </a:rPr>
              <a:t>Avg days between orders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91D48-5135-4156-6A6C-8E9D65B1662D}"/>
              </a:ext>
            </a:extLst>
          </p:cNvPr>
          <p:cNvSpPr txBox="1"/>
          <p:nvPr/>
        </p:nvSpPr>
        <p:spPr>
          <a:xfrm>
            <a:off x="9494520" y="2556928"/>
            <a:ext cx="26974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</a:t>
            </a:r>
            <a:r>
              <a:rPr lang="en-US" sz="2000" dirty="0"/>
              <a:t>4.20</a:t>
            </a:r>
          </a:p>
          <a:p>
            <a:r>
              <a:rPr lang="en-US" dirty="0">
                <a:solidFill>
                  <a:srgbClr val="FF0000"/>
                </a:solidFill>
              </a:rPr>
              <a:t>Avg items per order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99E2CB-0E31-17CD-0E6C-FE99355B5DA8}"/>
              </a:ext>
            </a:extLst>
          </p:cNvPr>
          <p:cNvSpPr txBox="1"/>
          <p:nvPr/>
        </p:nvSpPr>
        <p:spPr>
          <a:xfrm>
            <a:off x="417517" y="792351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1A1A2E"/>
                </a:solidFill>
                <a:latin typeface="Arial Rounded MT Bold" panose="020F0704030504030204" pitchFamily="34" charset="0"/>
                <a:ea typeface="Cambria" pitchFamily="34" charset="-122"/>
                <a:cs typeface="Cambria" pitchFamily="34" charset="-120"/>
              </a:rPr>
              <a:t>Customer Purchasing Behavior-</a:t>
            </a:r>
            <a:r>
              <a:rPr lang="en-US" sz="2400" b="1" u="sng" dirty="0" err="1">
                <a:solidFill>
                  <a:srgbClr val="1A1A2E"/>
                </a:solidFill>
                <a:latin typeface="Arial Rounded MT Bold" panose="020F0704030504030204" pitchFamily="34" charset="0"/>
                <a:ea typeface="Cambria" pitchFamily="34" charset="-122"/>
                <a:cs typeface="Cambria" pitchFamily="34" charset="-120"/>
              </a:rPr>
              <a:t>kpi’s</a:t>
            </a:r>
            <a:endParaRPr lang="en-IN" sz="2400" b="1" u="sng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065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67F83C-A659-04F6-EF69-62BC92B99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96" y="958415"/>
            <a:ext cx="8143335" cy="52898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A47952-4D37-092D-C080-8C676A539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376" y="958415"/>
            <a:ext cx="2552831" cy="52517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4FB942-7779-9E2E-E7D0-FAD9C9BA0C8E}"/>
              </a:ext>
            </a:extLst>
          </p:cNvPr>
          <p:cNvSpPr txBox="1"/>
          <p:nvPr/>
        </p:nvSpPr>
        <p:spPr>
          <a:xfrm>
            <a:off x="211346" y="142336"/>
            <a:ext cx="57667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rial Rounded MT Bold" panose="020F0704030504030204" pitchFamily="34" charset="0"/>
              </a:rPr>
              <a:t>Customer Order Trends and Top Customers</a:t>
            </a:r>
            <a:endParaRPr lang="en-IN" sz="2400" b="1" u="sng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789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6F2A11-6A20-EBF9-3D56-E2A5DCA63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04" y="1033334"/>
            <a:ext cx="6400801" cy="5315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2F4BDC-0CD1-BA44-D31C-70FAE3C7D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484" y="1067363"/>
            <a:ext cx="5167223" cy="52898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A2DE7B-E44C-917A-1FBA-5D246495D784}"/>
              </a:ext>
            </a:extLst>
          </p:cNvPr>
          <p:cNvSpPr txBox="1"/>
          <p:nvPr/>
        </p:nvSpPr>
        <p:spPr>
          <a:xfrm>
            <a:off x="159589" y="96899"/>
            <a:ext cx="547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rial Rounded MT Bold" panose="020F0704030504030204" pitchFamily="34" charset="0"/>
              </a:rPr>
              <a:t>Customer Distribution and Weekly Order Analysis</a:t>
            </a:r>
            <a:endParaRPr lang="en-IN" sz="2400" b="1" u="sng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525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3A2736-F018-CCC4-A11D-C16222229CE6}"/>
              </a:ext>
            </a:extLst>
          </p:cNvPr>
          <p:cNvSpPr txBox="1"/>
          <p:nvPr/>
        </p:nvSpPr>
        <p:spPr>
          <a:xfrm>
            <a:off x="183311" y="97168"/>
            <a:ext cx="11798779" cy="5924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2400" b="1" u="sng" dirty="0">
                <a:latin typeface="Arial Rounded MT Bold" panose="020F0704030504030204" pitchFamily="34" charset="0"/>
              </a:rPr>
              <a:t>Dashboard 2: Customer Purchasing Behaviour</a:t>
            </a:r>
            <a:endParaRPr lang="en-IN" sz="2400" u="sng" dirty="0">
              <a:latin typeface="Arial Rounded MT Bold" panose="020F0704030504030204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2400" b="1" u="sng" dirty="0">
                <a:latin typeface="Arial Rounded MT Bold" panose="020F0704030504030204" pitchFamily="34" charset="0"/>
              </a:rPr>
              <a:t>Insights</a:t>
            </a:r>
            <a:endParaRPr lang="en-IN" sz="2400" u="sng" dirty="0">
              <a:latin typeface="Arial Rounded MT Bold" panose="020F0704030504030204" pitchFamily="34" charset="0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Orders are near-zero from midnight–6 AM, ramp sharply 6–10 AM, plateau 10 AM–3 PM, then decline through the evening.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Day 0 and Day 1 customer counts (~1,900 and ~1,750) are well above days 2–6 (~1,300–1,450 each).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Average days between orders is 11, and top 10 customers place only 4–8 total orders each — shallow repeat-purchase depth.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Average items per order is just 4.20, despite a </a:t>
            </a:r>
            <a:r>
              <a:rPr lang="en-IN" dirty="0" err="1"/>
              <a:t>catalog</a:t>
            </a:r>
            <a:r>
              <a:rPr lang="en-IN" dirty="0"/>
              <a:t> spanning 134 aisles and ~19.4K products.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The "Count of user id by department" chart shows nearly identical bar lengths (~10–12K) across all departments, including a "(Blank)" category — indicating a likely measure/filter issue rather than real variation.</a:t>
            </a:r>
          </a:p>
        </p:txBody>
      </p:sp>
    </p:spTree>
    <p:extLst>
      <p:ext uri="{BB962C8B-B14F-4D97-AF65-F5344CB8AC3E}">
        <p14:creationId xmlns:p14="http://schemas.microsoft.com/office/powerpoint/2010/main" val="2570957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BA32E1-56F7-E541-9329-F245EFBD37AB}"/>
              </a:ext>
            </a:extLst>
          </p:cNvPr>
          <p:cNvSpPr txBox="1"/>
          <p:nvPr/>
        </p:nvSpPr>
        <p:spPr>
          <a:xfrm>
            <a:off x="191937" y="184384"/>
            <a:ext cx="11626251" cy="6258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2400" b="1" u="sng" dirty="0">
                <a:latin typeface="Arial Rounded MT Bold" panose="020F0704030504030204" pitchFamily="34" charset="0"/>
              </a:rPr>
              <a:t>Recommendations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Concentrate push notifications, flash deals, and staffing/inventory readiness for the 8–10 AM window ahead of peak demand.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Run start-of-week promotions and targeted win-back campaigns for days 2–6 to flatten the weekly demand curve.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Launch a subscribe-and-save or auto-replenishment program anchored on high-reorder products to shorten the reorder cycle.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Add "frequently bought together" prompts and bundle discounts at checkout to lift basket size and order value.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 dirty="0"/>
              <a:t>Audit the underlying DAX measure/filter context for the department chart before using it for analysis — it's not currently reliable.</a:t>
            </a:r>
          </a:p>
        </p:txBody>
      </p:sp>
    </p:spTree>
    <p:extLst>
      <p:ext uri="{BB962C8B-B14F-4D97-AF65-F5344CB8AC3E}">
        <p14:creationId xmlns:p14="http://schemas.microsoft.com/office/powerpoint/2010/main" val="1158023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FD7B21-D114-2BDA-B4BA-9506873CB88B}"/>
              </a:ext>
            </a:extLst>
          </p:cNvPr>
          <p:cNvSpPr txBox="1"/>
          <p:nvPr/>
        </p:nvSpPr>
        <p:spPr>
          <a:xfrm>
            <a:off x="4591409" y="2572276"/>
            <a:ext cx="1869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 Rounded MT Bold" panose="020F0704030504030204" pitchFamily="34" charset="0"/>
              </a:rPr>
              <a:t>Thank you </a:t>
            </a:r>
            <a:endParaRPr lang="en-IN" sz="36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09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797</Words>
  <Application>Microsoft Office PowerPoint</Application>
  <PresentationFormat>Widescreen</PresentationFormat>
  <Paragraphs>83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Rounded MT Bold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Analysis - Instacart Grocery Dataset</dc:title>
  <dc:subject>PptxGenJS Presentation</dc:subject>
  <dc:creator>Santhosh</dc:creator>
  <cp:lastModifiedBy>gopi santhosh reddy</cp:lastModifiedBy>
  <cp:revision>5</cp:revision>
  <dcterms:created xsi:type="dcterms:W3CDTF">2026-06-23T06:08:33Z</dcterms:created>
  <dcterms:modified xsi:type="dcterms:W3CDTF">2026-06-26T09:48:02Z</dcterms:modified>
</cp:coreProperties>
</file>